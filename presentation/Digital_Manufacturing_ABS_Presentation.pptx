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291840" cy="3474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2700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A5B4FC"/>
                </a:solidFill>
                <a:latin typeface="Calibri"/>
              </a:rPr>
              <a:t>INTRODUCTION TO DIGITAL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Optimization and Machine Learning Prediction of Tensile and Compressive Strengths for Additively Manufactured ABS Automotive Components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5B4FC"/>
                </a:solidFill>
                <a:latin typeface="Calibri"/>
              </a:rPr>
              <a:t>Replication and extension of Munshi et al. (Next Materials, 2026), with nine ML models, complete metrics, SHAP explainability and robust process optimisation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39"/>
            <a:ext cx="3393338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5B4FC"/>
                </a:solidFill>
                <a:latin typeface="Calibri"/>
              </a:rPr>
              <a:t>REFERENCE PAPER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G.A. Munshi, V.M. Kulkarni, S. Yargatti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"Computation of tensile and compressive strengths of additively manufactured ABS material for automotive applications using ANN algorithms"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Next Materials 10 (2026) 101420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3458" y="3749039"/>
            <a:ext cx="3393338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5B4FC"/>
                </a:solidFill>
                <a:latin typeface="Calibri"/>
              </a:rPr>
              <a:t>KEY RESULTS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383-sample ABS dataset, 5 FDM parameters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model: Histogram Gradient Boosting, CV R² = 0.9995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SHAP explanations in MPa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Robust optimum: 50.4 / 63.0 MPa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9676" y="3749039"/>
            <a:ext cx="3393338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5B4FC"/>
                </a:solidFill>
                <a:latin typeface="Calibri"/>
              </a:rPr>
              <a:t>TEAM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Roll numbers: 016, 021, 028, 035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[add team member names]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Final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414016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54298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Why it matters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FDM/MEX prints ABS parts bead by bead and layer by layer, so strength depends on how well beads fuse and how much material fills the part.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Five coupled parameters (nozzle &amp; bed temperature, speed, layer height, infill) interact non-linearly.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Trial-and-error printing and ASTM testing is slow and wastes material.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417320"/>
            <a:ext cx="3454298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284C7"/>
                </a:solidFill>
                <a:latin typeface="Calibri"/>
              </a:rPr>
              <a:t>Automotive case studies (from the paper)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Brake pedal: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high compressive load, so we require σc ≥ 45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Door handle: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repeated pulling, so we require σt ≥ 30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Goal: meet the strength requirement with the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shortest print time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5876" y="1417320"/>
            <a:ext cx="3454298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Project objectives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1. Replicate the paper's ANN models on its dataset and compare with its Tables 4 and 7.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2. Evaluate 9 models with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all regression metrics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(hold-out + 5-fold CV).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3.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Explain individual predictions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(SHAP, in MPa).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4.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Find optimal parameters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formally, with sensitivity analysis, case studies and a Pareto front.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426464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Reference Paper &amp; Dataset (383 samples)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572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Provenance (Section 2.5 of the paper)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383 tensile/compressive strengths of virgin ABS compiled by the authors from peer-reviewed studies and test reports (ASTM D638 / D695 specimens); outliers beyond 3σ removed.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The paper's own PRATI_AP prints were only used for its 15-run Taguchi L15 validation.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0 missing values, 0 duplicate rows.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Compressive ≈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1.25 × tensile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in every record (r = 1.000).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Each parameter takes only a few discrete levels; layer height only 0.2 and 0.8 mm. The optimiser therefore stays inside this window.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77840" y="1417320"/>
          <a:ext cx="588233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889"/>
                <a:gridCol w="700277"/>
                <a:gridCol w="700277"/>
                <a:gridCol w="770305"/>
                <a:gridCol w="770305"/>
                <a:gridCol w="70027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Levels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Nozzle temp. (°C)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223.97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17.44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Bed temp. (°C)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79.19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22.49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Print speed (mm/s)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40.23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22.36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Layer height (mm)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Infill density (%)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58.12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27.85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Tensile strength (MPa)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50.6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23.11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11.99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 strength (MPa)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63.3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28.91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14.98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852928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Pearson Correlation: Which Parameters Drive Strength?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48056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Findings (paper Tables 8 &amp; 9 agree)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1.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Infill density r = +0.927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the dominant driver; a larger solid load-bearing area.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2.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Layer height r = −0.348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thicker layers leave larger inter-bead voids and less bonding area.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3.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Print speed r = −0.162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less time for interlayer diffusion.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4.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Nozzle / bed temperature |r| &lt; 0.04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no linear effect inside 200–250 °C / 50–110 °C.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5. Parameters are mutually uncorrelated (|r| ≤ 0.07), consistent with a designed factor space.</a:t>
            </a:r>
          </a:p>
        </p:txBody>
      </p:sp>
      <p:pic>
        <p:nvPicPr>
          <p:cNvPr id="7" name="Picture 6" descr="pearson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73225"/>
            <a:ext cx="6065215" cy="4717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865376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Models, Validation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27167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Paper replications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Adam ANN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2 tanh hidden layers (20-20), lr 1e-3, batch 32, 1000 epochs (paper §2.6.1).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Bayesian-regularised ANN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: 2×20 tanh, linear output; MATLAB trainbr approximated by L-BFGS + L2 weight decay.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Literature comparators: SVR, Decision Tree, AdaBoost.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17320"/>
            <a:ext cx="5227167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284C7"/>
                </a:solidFill>
                <a:latin typeface="Calibri"/>
              </a:rPr>
              <a:t>Proposed ensembles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Histogram Gradient Boosting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(300 iterations, lr 0.05, depth 6)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Random Forest (300 trees), Extra Trees (300 trees)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XGBoost (350 trees, lr 0.04, depth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72865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Leakage-free evaluation pipeline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Min-max scaling of inputs and targets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inside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each model pipeline, re-fitted on the training part of every split.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80/20 hold-out (306/77, seed 42) + shuffled 5-fold CV with a fresh model per fold; mean ± std of 9 metrics.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Best model chosen by 5-fold CV R², then re-fitted on all 383 samples for SHAP and optimisation.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Selected: Histogram Gradient Boosting.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523744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REVIEW 1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How the Professor's Review 1 Feedback Was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7286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91"/>
                <a:gridCol w="2017353"/>
                <a:gridCol w="6877342"/>
                <a:gridCol w="1467166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Feedback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What we implemented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Evidence (slides)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All regression metrics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MSE, RMSE, MAE, MAPE, R², Adjusted R², Explained Variance, Max Error, Median AE for 9 models; hold-out + 5-fold CV (mean ± std); normalised errors for comparison with the paper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7, 8, 10, 11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Explainability of a prediction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SHAP (exact TreeExplainer) in MPa for both strengths; additivity verified; waterfalls for the optimum, case-study recipes and the weakest test specimen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12, 13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Optimal parameters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Robust differential evolution (worst case within ±5 units), cross-checked by exhaustive search of 960 tested combinations; sensitivity analysis, constrained case studies, Pareto front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0F172A"/>
                          </a:solidFill>
                          <a:latin typeface="Calibri"/>
                        </a:rPr>
                        <a:t>14, 15, 16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257800"/>
            <a:ext cx="10728655" cy="50292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92400E"/>
                </a:solidFill>
                <a:latin typeface="Calibri"/>
              </a:rPr>
              <a:t>Also fixed: search window now matches the data, model-reuse bug in CV, corrected paper values &amp; citation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01568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#1 · ALL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Model Performance: Hold-out R² of All Nine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metrics_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61111"/>
            <a:ext cx="6766560" cy="314161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508760"/>
          <a:ext cx="377921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401"/>
                <a:gridCol w="781906"/>
                <a:gridCol w="78190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CV R²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CV RMSE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Hist. Gradient Boosting (proposed)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0.9995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Extra Trees (proposed)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Random Forest (proposed)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XGBoost (proposed)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(replication)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0.9804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1.85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(replication)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0.9795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1.91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AdaBoost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0.9557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2.80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5440680"/>
            <a:ext cx="3779215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Mean of both targets, 5-fold CV. RMSE in MPa.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01568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#1 · ALL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All 9 Metrics &amp; Cross-Validation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metrics_top3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515" y="1417320"/>
            <a:ext cx="7942664" cy="1737360"/>
          </a:xfrm>
          <a:prstGeom prst="rect">
            <a:avLst/>
          </a:prstGeom>
        </p:spPr>
      </p:pic>
      <p:pic>
        <p:nvPicPr>
          <p:cNvPr id="7" name="Picture 6" descr="metrics_erro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21730"/>
            <a:ext cx="5227167" cy="3049180"/>
          </a:xfrm>
          <a:prstGeom prst="rect">
            <a:avLst/>
          </a:prstGeom>
        </p:spPr>
      </p:pic>
      <p:pic>
        <p:nvPicPr>
          <p:cNvPr id="8" name="Picture 7" descr="metrics_cv_r2_st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7" y="3726213"/>
            <a:ext cx="5227167" cy="22402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755648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BEST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Histogram Gradient Boosting: Predicted vs Measured (Hold-out)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parity_plot_true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3817"/>
            <a:ext cx="7223760" cy="30562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17320"/>
            <a:ext cx="3322015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Calibri"/>
              </a:rPr>
              <a:t>Best model accuracy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Hold-out R²: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0.9996 / 0.9996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Hold-out RMSE: 0.26 / 0.32 MPa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5-fold CV R²: 0.9995 ± 0.0003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CV MAPE: 0.66 % / 0.64 %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Max error: 1.01 / 1.31 MPa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All test samples lie inside the ±10 % band.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(tensile / compressive)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69664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⭐ COMPARISON WITH PUBLISHED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R² Comparison with Table 7 of Munshi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7498077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163"/>
                <a:gridCol w="2556163"/>
                <a:gridCol w="1107670"/>
                <a:gridCol w="1278081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Tensile R²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Compressive R²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Adam-optimised ANN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(L15 validation)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Bayesian-regularised ANN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(L15 validation)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0.8741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0.8747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0.9208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0.9215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0.8359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0.8443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AdaBoost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Paper Table 7 (other studies)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0.8893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0.9126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Adam-optimised ANN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This work (hold-out)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0.9845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0.9744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Bayesian-regularised ANN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This work (hold-out)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0.9975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0.9973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Histogram Gradient Boosting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This work (hold-out)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0.9996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0F172A"/>
                          </a:solidFill>
                          <a:latin typeface="Calibri"/>
                        </a:rPr>
                        <a:t>0.9996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Tuned Random Forest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This work (hold-out)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0.9993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0.9993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This work (hold-out)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0.9987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417320"/>
            <a:ext cx="3047695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Reading the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Our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Adam-ANN replication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(0.984 / 0.974) reaches the same level as the paper (0.93 / 0.98).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Histogram Gradient Boosting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reaches 0.9996, above every R² in Table 7.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The paper's DT/SVM/RF/XGB/SVR/k-NN/AdaBoost rows come from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other studies and datasets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The paper's ANN R² is on its 15 Taguchi L15 prints; ours is on the 77 held-out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69664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⭐ COMPARISON WITH PUBLISHED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Error Comparison with Table 4 of Munshi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7863838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236"/>
                <a:gridCol w="973618"/>
                <a:gridCol w="1048512"/>
                <a:gridCol w="748937"/>
                <a:gridCol w="748937"/>
                <a:gridCol w="748937"/>
                <a:gridCol w="748937"/>
                <a:gridCol w="898724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MSE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MAPE %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RMSE (norm.)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(Paper)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0.0523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0.2031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0.1601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(Paper)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0.0523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0.2516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0.1973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(Paper)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0.0586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0.2126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0.1541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0.740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(Paper)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0.0586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0.2661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0.1931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(Paper)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(Paper)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0.0077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0.0019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(Paper)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1.7543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0.0125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5.5000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(Paper)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1.6458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5.5263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(ours)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2.5038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1.5823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1.1805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7.136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0.0353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Adam ANN (ours)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6.4443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2.5386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1.9634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10.225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0.0453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(ours)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0.2960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0.5380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0.4062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2.021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0.0120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Bayesian ANN (ours)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0.4580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0.6680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0.4956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1.930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0.0119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HGB (ours)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0.0655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0.2560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0.1401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0.0057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HGB (ours)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Hold-out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0.1042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0.3228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0.1659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0.0058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HGB (ours)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Tensile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0.0686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0.2493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0.1497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0.658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0.0056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HGB (ours)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5-Fold CV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Compressive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0.1086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0.3117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0.1806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0.0056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417320"/>
            <a:ext cx="2681935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Notes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Our values are in MPa; "norm." is on min-max scaled targets (the paper's values appear to be normalised).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HGB normalised RMSE ≈ 0.0056, lower than all Adam-ANN values in the paper.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The paper's values are internally inconsistent (e.g. MSE 1.75 with RMSE 0.0125), so they are compared with caution.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Our 5-fold CV is stable for every model (R² std ≤ 0.006); the paper reports MAE 5.5 for its Bayesian 5-fold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730752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#2 ·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SHAP: How Each Parameter Moves the Prediction (MPa)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shap_summary_tens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1996"/>
            <a:ext cx="6400800" cy="401984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417320"/>
          <a:ext cx="4144975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588"/>
                <a:gridCol w="1326392"/>
                <a:gridCol w="8289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 |SHAP| (MPa)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Infill Density (%)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9.47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62.2 %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Layer Height (mm)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3.49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22.9 %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Print Speed (mm/s)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1.67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11.0 %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Nozzle Temp (°C)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3.9 %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Bed Temp (°C)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0.1 %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3566160"/>
            <a:ext cx="4144975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Tensile strength (compressive is identical in share)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High infill: up to +19 MPa; low infill: down to −17 MPa.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0.2 mm layers: about +2.5 to +5 MPa; 0.8 mm layers: about −2 to −5 MPa.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Speed above about 40 mm/s lowers strength.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Bed temperature has no effect, as in the paper's conclusion.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730752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#2 ·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Explaining ONE Prediction: Why Does This Recipe Give This Strength?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shap_waterfall_tensile_opti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7196"/>
            <a:ext cx="5227167" cy="2369207"/>
          </a:xfrm>
          <a:prstGeom prst="rect">
            <a:avLst/>
          </a:prstGeom>
        </p:spPr>
      </p:pic>
      <p:pic>
        <p:nvPicPr>
          <p:cNvPr id="7" name="Picture 6" descr="shap_waterfall_compressive_brake_pe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81537"/>
            <a:ext cx="5227167" cy="23805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663440"/>
            <a:ext cx="10728655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Calibri"/>
              </a:rPr>
              <a:t>Exact decomposition of the optimal recipe's tensile strength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23.11 (dataset average) + +18.89 (infill) +4.84 (layer) +2.62 (speed) +0.95 (nozzle) +0.00 (bed) =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50.41 MPa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Additivity verified for all 383 samples (max error 1.4e-13 MPa). Waterfalls are also provided for the door handle and the weakest test specimen.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169664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#3 · OPTIMAL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Formal Optimisation: Robust Differential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7286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3746"/>
                <a:gridCol w="957915"/>
                <a:gridCol w="957915"/>
                <a:gridCol w="1053707"/>
                <a:gridCol w="957915"/>
                <a:gridCol w="957915"/>
                <a:gridCol w="957915"/>
                <a:gridCol w="957915"/>
                <a:gridCol w="105370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Nozzle °C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Bed °C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Speed mm/s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Layer mm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Infill %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σt MPa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σc MPa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Print-time τ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Max tensile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228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50.41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63.04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138.9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Max compressive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50.41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63.04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138.9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Max composite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222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50.41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63.02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138.9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Exhaustive check (960 tested combos)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50.41*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63.02*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F172A"/>
                          </a:solidFill>
                          <a:latin typeface="Calibri"/>
                        </a:rPr>
                        <a:t>166.7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429000"/>
            <a:ext cx="345429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Method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scipy differential_evolution, 4 continuous parameters × 2 layer levels.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Robust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: each recipe is scored by its worst case within ±5 °C, ±5 mm/s, ±5 % infill.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Ties broken by shortest print time; rounded to machine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3429000"/>
            <a:ext cx="345429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284C7"/>
                </a:solidFill>
                <a:latin typeface="Calibri"/>
              </a:rPr>
              <a:t>Result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</a:t>
            </a:r>
            <a:r>
              <a:rPr sz="1300" b="1" i="0">
                <a:solidFill>
                  <a:srgbClr val="0F172A"/>
                </a:solidFill>
                <a:latin typeface="Calibri"/>
              </a:rPr>
              <a:t>Layer 0.2 mm, infill ≥ 95 %, speed ≤ 35 mm/s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Worst case: 50.41 / 63.02 MPa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All 3 objectives give the same optimum (σc ≈ 1.25·σt).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Same strength as the best tested combination, with a shorter print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5876" y="3429000"/>
            <a:ext cx="3454298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Why robust?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Tree models are step functions; the steps lie half-way between tested levels.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A naive optimum sits on a step edge, where a 1 mm/s drift loses 4 MPa.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The robust optimum keeps its strength under process scatter.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* worst-case strengths within the tolerance band (MPa); optimiser rows show nominal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01568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FEEDBACK #3 ·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Sensitivity Analysis around the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optimizat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52677"/>
            <a:ext cx="6675120" cy="2581046"/>
          </a:xfrm>
          <a:prstGeom prst="rect">
            <a:avLst/>
          </a:prstGeom>
        </p:spPr>
      </p:pic>
      <p:pic>
        <p:nvPicPr>
          <p:cNvPr id="7" name="Picture 6" descr="sensitivity_respons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05667"/>
            <a:ext cx="6675120" cy="139570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417320"/>
          <a:ext cx="387065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713"/>
                <a:gridCol w="1116535"/>
                <a:gridCol w="126540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Full-range σt swing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Near-optimal window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Infill Density (%)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40.37 MPa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90.5 - 100.0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Layer Height (mm)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12.71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Print Speed (mm/s)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9.16 MPa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10.0 - 40.0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Nozzle Temp (°C)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2.40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215.3 - 244.7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Bed Temp (°C)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0.04 MPa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0F172A"/>
                          </a:solidFill>
                          <a:latin typeface="Calibri"/>
                        </a:rPr>
                        <a:t>50.0 - 110.0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3931920"/>
            <a:ext cx="3870655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E293B"/>
                </a:solidFill>
                <a:latin typeface="Calibri"/>
              </a:rPr>
              <a:t>Engineering reading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Very sensitive: infill, layer height.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Moderate: print speed (keep ≤ 35–40 mm/s).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Insensitive: nozzle 215–245 °C; bed has no effect, so choose it for warp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182112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AUTOMOTIVE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Fastest Recipes that Meet the Requirement + Pareto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pareto_frontier_automo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17750"/>
            <a:ext cx="5852160" cy="362833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417320"/>
          <a:ext cx="46936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034"/>
                <a:gridCol w="1294790"/>
                <a:gridCol w="129479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Brake pedal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Door handle</a:t>
                      </a:r>
                    </a:p>
                  </a:txBody>
                  <a:tcPr marL="54864" marR="54864" marT="18288" marB="18288" anchor="ctr"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σc ≥ 45 MPa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σt ≥ 30 MPa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Safety margin (2×CV RMSE)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+0.62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+0.50 MPa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Nozzle / Bed (°C)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224 / 76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225 / 85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Speed (mm/s)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Layer (mm) / Infill (%)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0.8 / 96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0.8 / 96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Predicted σt / σc (MPa)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37.72 / 47.27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30.78 / 38.55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Worst-case key strength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σc = 47.23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F172A"/>
                          </a:solidFill>
                          <a:latin typeface="Calibri"/>
                        </a:rPr>
                        <a:t>σt = 30.78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0F172A"/>
                          </a:solidFill>
                          <a:latin typeface="Calibri"/>
                        </a:rPr>
                        <a:t>Print time vs max-strength recipe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F172A"/>
                          </a:solidFill>
                          <a:latin typeface="Calibri"/>
                        </a:rPr>
                        <a:t>−75.0 %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F172A"/>
                          </a:solidFill>
                          <a:latin typeface="Calibri"/>
                        </a:rPr>
                        <a:t>−87.5 %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4846320"/>
            <a:ext cx="4693615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Thick 0.8 mm layers with high infill meet both requirements about 4–8× faster. Switching to 0.2 mm layers is only worth it when &gt; 43 MPa composite strength is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743200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CRITICAL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Taguchi L15 Check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27167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Taguchi L15 combinations (paper Table 3)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Predicted all 15 combinations; the 5 with 0.5 mm layers are flagged (0.5 mm is not in the data).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Combination 6: predicted 50.4 / 63.0 MPa vs paper about 37 / 52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Combination 13: predicted 50.4 / 63.0 MPa vs paper about 35 / 47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Same ranking (6 and 13 are the strongest), but the paper's own prints are about 25–30 % weaker than the compiled dataset (C/T ratio ≈ 1.4 vs 1.25).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17320"/>
            <a:ext cx="5227167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92400E"/>
                </a:solidFill>
                <a:latin typeface="Calibri"/>
              </a:rPr>
              <a:t>Limitations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The dataset is nearly deterministic (σc = 1.25·σt, no bed effect), so R² ≈ 0.9995 is not the accuracy expected on new prints.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No external validation set: the L15 measurements are only shown graphically in the paper.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Values between tested levels are interpolations; robust optimisation and safety margins reduce this risk.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The print-time index is relative (assumed 30 % shell fraction).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• Next step: confirm the recipes with physical ASTM D638/D695 prints.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645920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ABS Print Lab: Interactive Simulator of Our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simulator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25650"/>
            <a:ext cx="7223760" cy="38125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17320"/>
            <a:ext cx="3322015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What the audience can try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Move the 5 printing parameters; the exact trained model predicts σt and σc instantly.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The animated printer shows layer height, infill and print time.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"Why this strength?" shows live Shapley values in MPa (feedback #2).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Load-test the brake pedal and the door handle with any recipe.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Run differential evolution live and watch it converge on the Pareto map (feedback #3).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Open simulator/ABS_Print_Lab.html in any browser (works offline).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1865376" cy="2926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284C7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93B"/>
                </a:solidFill>
                <a:latin typeface="Calibri"/>
              </a:rPr>
              <a:t>Conclusions &amp; Submission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27167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Calibri"/>
              </a:rPr>
              <a:t>Key conclusions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1. The paper's ANNs were replicated (Adam R² ≈ 0.98, matching the reported 0.93 / 0.98).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2.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Histogram Gradient Boosting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 is the best and most stable model: CV R² 0.9995, RMSE 0.25 / 0.31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3. SHAP: infill ≈ 62 %, layer ≈ 23 %, speed ≈ 11 % of the effect; bed temperature has none.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4. Robust optimum: 0.2 mm, ≥ 95 % infill, ≤ 35 mm/s, giving 50.4 / 63.0 MPa.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5. Brake pedal / door handle recipes print 75 % / 88 % faster than the max-strength recipe.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17320"/>
            <a:ext cx="5227167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284C7"/>
                </a:solidFill>
                <a:latin typeface="Calibri"/>
              </a:rPr>
              <a:t>Submission folder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✔ Reference paper (reference_paper/)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✔ Source code: src/ + run_project.py (+ notebook, README, requirements)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✔ Report in research-paper format (report/Project_Report.docx / .md)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✔ PowerPoint presentation (this deck) + interactive simulator (simulator/)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✔ Comparison with published work (slides 10–11, report §3.3)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☐ Plagiarism report (to be generated by the team)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  <a:latin typeface="Calibri"/>
              </a:rPr>
              <a:t>☐ AI-generated content report (to be generated by the team)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